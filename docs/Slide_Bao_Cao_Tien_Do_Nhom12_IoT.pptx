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TRƯỜNG ĐẠI HỌC CÔNG THƯƠNG TP.HCM (HUIT) • KHOA CÔNG NGHỆ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48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HỆ THỐNG BÁO KHÓI CẢNH BÁO SỚM</a:t>
            </a:r>
          </a:p>
          <a:p>
            <a:pPr>
              <a:defRPr sz="1600" b="1">
                <a:solidFill>
                  <a:srgbClr val="F59E0B"/>
                </a:solidFill>
              </a:defRPr>
            </a:pPr>
            <a:r>
              <a:t>ĐỀ TÀI 04 • BÁO CÁO NGHIỆM THU TIẾN ĐỘ GIAI ĐOẠN 1 (MILESTONE M3: FULL 4 TẦNG IOT)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94484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301752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429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TĂNG GIA HUY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SV1 - Kỹ sư Tầng 1 (Sensing &amp; Embedded)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Wokwi Simulation • Firmware ESP32 • Lọc N=5 • FSM 3 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291840"/>
            <a:ext cx="301752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429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CHÂU PHÁT LỘC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SV2 - Kỹ sư Tầng 2 &amp; 3 (Network &amp; Middleware)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HiveMQ Cloud SSL 8883 • 3 MQTT Topics • Node-RED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91840"/>
            <a:ext cx="301752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429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LỤC XUÂN THỊNH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SV3 - Trưởng nhóm &amp; Kỹ sư Tầng 4 (Application)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Dashboard Light Theme • Bot Telegram • E2E Testing •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1500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Giảng viên hướng dẫn: Thầy Võ Hoàng Hải • Học phần An toàn và Bảo mật IoT (IT4735)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BÁO CÁO TIẾN ĐỘ GIAI ĐOẠN 1 (TUẦN 1 - 6) • NHÓM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Bài Toán Nghiệp Vụ &amp; Kiến Trúc 4 Tầng IoT Chuẩn Mực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114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ĐẶT VẤN ĐỀ &amp; MỤC TIÊU HỆ THỐNG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Thực trạng nhức nhối: </a:t>
            </a:r>
            <a:r>
              <a:rPr b="0">
                <a:solidFill>
                  <a:srgbClr val="475569"/>
                </a:solidFill>
              </a:rPr>
              <a:t>Các vụ hỏa hoạn gia đình thường phát triển từ giai đoạn âm ỉ (Smoldering Stage). Chuông báo khói độc lập chỉ kêu tại chỗ, không báo được khi vắng nhà.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Mục tiêu Đề tài 04: </a:t>
            </a:r>
            <a:r>
              <a:rPr b="0">
                <a:solidFill>
                  <a:srgbClr val="475569"/>
                </a:solidFill>
              </a:rPr>
              <a:t>Xây dựng hệ thống IoT hoàn chỉnh phát hiện sớm nồng độ khói/khí độc và nhiệt độ dị thường, tự động dập tắt nguy cơ và phát cảnh báo từ xa đa kênh.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Dung hợp đa cảm biến: </a:t>
            </a:r>
            <a:r>
              <a:rPr b="0">
                <a:solidFill>
                  <a:srgbClr val="475569"/>
                </a:solidFill>
              </a:rPr>
              <a:t>Kết hợp MQ-2 (nồng độ PPM khói) và DHT22 (nhiệt độ). Báo cháy tức thì ngay cả khi nhiệt độ vọt qua 55°C mà khói chưa kịp lan tới.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Điều khiển khép kín 2 chiều: </a:t>
            </a:r>
            <a:r>
              <a:rPr b="0">
                <a:solidFill>
                  <a:srgbClr val="475569"/>
                </a:solidFill>
              </a:rPr>
              <a:t>Tự động kích quạt hút khói và cho phép quản trị viên bật/tắt cưỡng bức từ xa qua Dashboard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280160"/>
            <a:ext cx="6309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KIẾN TRÚC 4 TẦNG IOT (THEO CHUẨN SYLLABUS HUIT)</a:t>
            </a:r>
          </a:p>
          <a:p>
            <a:pPr>
              <a:spcBef>
                <a:spcPts val="800"/>
              </a:spcBef>
              <a:defRPr sz="1300" b="1">
                <a:solidFill>
                  <a:srgbClr val="EF4444"/>
                </a:solidFill>
              </a:defRPr>
            </a:pPr>
            <a:r>
              <a:t>TẦNG 4: APPLICATION / PLATFORM (Lục Xuân Thịnh)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Node-RED Dashboard: Đồng hồ Gauge đo PPM khói, biểu đồ nhiệt ẩm, 4 nút bấm điều khiển.</a:t>
            </a:r>
            <a:br/>
            <a:r>
              <a:t>• Telegram Bot: Tự động bắn tin khẩn cấp về điện thoại kèm giá trị PPM thực tế.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TẦNG 3: MIDDLEWARE / AUTOMATION ENGINE (Châu Phát Lộc)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Node-RED Rule Engine: Tiếp nhận JSON, lọc nhiễu, kích hoạt 2 Automation Rules.</a:t>
            </a:r>
            <a:br/>
            <a:r>
              <a:t>• Event Logging: Lưu vết toàn bộ lịch sử cảnh báo phục vụ điều tra nguyên nhân.</a:t>
            </a:r>
          </a:p>
          <a:p>
            <a:pPr>
              <a:spcBef>
                <a:spcPts val="800"/>
              </a:spcBef>
              <a:defRPr sz="1300" b="1">
                <a:solidFill>
                  <a:srgbClr val="0284C7"/>
                </a:solidFill>
              </a:defRPr>
            </a:pPr>
            <a:r>
              <a:t>TẦNG 2: NETWORK / CONNECTIVITY (Châu Phát Lộc)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Cloud MQTT Broker: HiveMQ Cloud mã hóa SSL/TLS Port 8883.</a:t>
            </a:r>
            <a:br/>
            <a:r>
              <a:t>• Danh mục 3 Topic: Telemetry (5s), Alert (tức thời &lt;1s), Command (Downlink điều khiển).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</a:defRPr>
            </a:pPr>
            <a:r>
              <a:t>TẦNG 1: SENSING / PHYSICAL (Tăng Gia Huy)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Node vi điều khiển: ESP32 DevKit V1 mô phỏng trên Wokwi Simulator.</a:t>
            </a:r>
            <a:br/>
            <a:r>
              <a:t>• Cảm biến: MQ-2 Gas/Smoke (ADC34) + DHT22 (GPIO15).</a:t>
            </a:r>
            <a:br/>
            <a:r>
              <a:t>• Thiết bị chấp hành: Relay Quạt hút (GPIO18), Còi Buzzer (GPIO19), 3 LED Xanh-Vàng-Đỏ.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SV1: TĂNG GIA HUY • HOÀN THÀNH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1: Cảm Biến, Mô Phỏng Wokwi &amp; Firmware ESP32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do_Wokwi_3LED_H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21208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66928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Sơ đồ mạch Wokwi: ESP32 + MQ-2 + DHT22 + Relay quạt + Buzzer + 3 LED chỉ thị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49377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ĐẶC TẢ KỸ THUẬT &amp; GIẢI THUẬT TẦNG 1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Lọc trung bình trượt (Moving Average N=5):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Loại bỏ hoàn toàn các gai nhiễu điện áp analog ngẫu nhiên trên ADC ESP32. Đảm bảo số đo PPM mượt mà, không bị giật số ảo.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Máy trạng thái FSM (3 Cấp độ rõ ràng):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SAFE (&lt; 300 PPM, Temp &lt;= 55°C): Sáng LED Xanh, Quạt tắt, Còi tắt.</a:t>
            </a:r>
            <a:br/>
            <a:r>
              <a:t>• WARNING (300 - 600 PPM): Sáng LED Vàng, Relay tự bật Quạt hút tản khói.</a:t>
            </a:r>
            <a:br/>
            <a:r>
              <a:t>• DANGER (&gt; 600 PPM hoặc Temp &gt; 55°C): Sáng LED Đỏ, Quạt chạy tối đa, Còi hú 1000Hz.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Kiến trúc Module hóa Clean Code C++: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Mã nguồn main.cpp chia thành 3 hàm tường minh: docVaLocKhoi(), capNhatDenLED(state), dieuKhienThietBi(state).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Phản ứng tức thời (Fast Emergency Trigger):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Cơ chế phát hiện cạnh chuyển trạng thái: bắn bản tin cảnh báo khẩn cấp ngay giây đầu tiên, không chờ hết chu kỳ định kỳ 5 giây.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SV2: CHÂU PHÁT LỘC • HOÀN THÀNH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2 &amp; 3: Hạ Tầng Mạng HiveMQ SSL &amp; Middleware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CẤU HÌNH BROKER &amp; LOGIC TỰ ĐỘNG HÓA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Máy chủ MQTT Broker An Toàn (HiveMQ Cloud):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Kết nối qua Port 8883 với mã hóa đường truyền SSL/TLS bảo vệ dữ liệu đo đạc trước nguy cơ nghe lén trên đường truyền.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Chuẩn hóa 3 Topic Nhóm 12: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1. nhom12/baokhoi/telemetry: Đẩy thông số cảm biến định kỳ mỗi 5s.</a:t>
            </a:r>
            <a:br/>
            <a:r>
              <a:t>2. nhom12/baokhoi/alert: Bắn gói tin khẩn cấp tức thời khi có cháy.</a:t>
            </a:r>
            <a:br/>
            <a:r>
              <a:t>3. nhom12/baokhoi/cmd: Nhận lệnh JSON điều khiển quạt hai chiều.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Middleware Node-RED (Không chỉ Forward thô):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Xây dựng luồng phân tích JSON payload, kiểm tra tính toàn vẹn và thực thi 02 Automation Rules độc lập.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Lưu vết sự kiện (Event History Logging):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Tự động ghi nhận thời điểm (Timestamp), nồng độ khói, nhiệt độ và loại sự cố phục vụ tra cứu sau này.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nhChung_MQTTX_Tua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4480"/>
            <a:ext cx="484632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6692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Minh chứng kiểm thử kết nối MQTTX với HiveMQ Cloud SSL Port 8883 (Tuần 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SV3: LỤC XUÂN THỊNH • HOÀN THÀNH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4: Giao Diện Giám Sát Node-RED Dashboard Thời Gian Thực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5836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hChung_Dashboard_LightTheme_Th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63093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760720"/>
            <a:ext cx="6309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Giao diện Node-RED Dashboard phong cách Light Theme: Đồng hồ khói, Biểu đồ nhiệt ẩm &amp; Bảng điều khiển quạt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80160"/>
            <a:ext cx="38404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41732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TÍNH NĂNG NỔI BẬT DASHBOARD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Thiết kế Light Theme Hiện Đại: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Giao diện nền sáng trang nhã, thẻ trắng bo góc 12px chuẩn công nghiệp.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Đồng hồ Gauge Phân Vùng Màu: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Phân dải màu 0-300 (Xanh), 300-600 (Vàng), 600-1000 (Đỏ) giúp người xem nhận diện rủi ro trong 1 giây.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Biểu đồ nhiệt ẩm động: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Theo dõi đồ thị biến thiên thời gian thực theo từng giây.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Cụm 4 Nút Điều Khiển Tương Tác: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BẬT QUẠT (FAN_ON), TẮT QUẠT (FAN_OFF), TỰ ĐỘNG (AUTO) và TEST 750 PPM kèm Bảng phản hồi trạng thái tức thời.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SV3: LỤC XUÂN THỊNH • HOÀN THÀNH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4: Tích Hợp Telegram Bot Cảnh Báo Cháy Khẩn Cấp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400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CƠ CHẾ CẢNH BÁO KHẨN CẤP QUA TELEGRAM BOT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Tên Bot định danh riêng: </a:t>
            </a:r>
            <a:r>
              <a:rPr b="0">
                <a:solidFill>
                  <a:srgbClr val="475569"/>
                </a:solidFill>
              </a:rPr>
              <a:t>@BaoKhoiCanhBao_bot hoạt động 24/7 trên nền tảng đám mây của Telegram.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Tự động bắn tin khẩn cấp: </a:t>
            </a:r>
            <a:r>
              <a:rPr b="0">
                <a:solidFill>
                  <a:srgbClr val="475569"/>
                </a:solidFill>
              </a:rPr>
              <a:t>Ngay khi nồng độ khói vượt 600 PPM hoặc nhiệt độ vượt 55°C, hệ thống tự động soạn thảo và gửi tin báo động về điện thoại chủ nhà trong chưa đầy 1 giây.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Nội dung báo động chi tiết: </a:t>
            </a:r>
            <a:r>
              <a:rPr b="0">
                <a:solidFill>
                  <a:srgbClr val="475569"/>
                </a:solidFill>
              </a:rPr>
              <a:t>Gửi kèm chính xác nồng độ khói (PPM), nhiệt độ phòng (°C), độ ẩm (%), trạng thái quạt hút và thời gian xảy ra sự cố.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Cơ chế chống spam (Rate Limit 60 giây): </a:t>
            </a:r>
            <a:r>
              <a:rPr b="0">
                <a:solidFill>
                  <a:srgbClr val="475569"/>
                </a:solidFill>
              </a:rPr>
              <a:t>Áp dụng thuật toán kiểm soát tần suất gửi tin: duy trì khoảng cách tối thiểu 60s giữa các lần báo động để tránh vi phạm chính sách của Telegram (lỗi 429 Too Many Requests).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Bảo mật dữ liệu nghiêm ngặt: </a:t>
            </a:r>
            <a:r>
              <a:rPr b="0">
                <a:solidFill>
                  <a:srgbClr val="475569"/>
                </a:solidFill>
              </a:rPr>
              <a:t>Bot Token và Chat ID được cô lập hoàn toàn trong biến môi trường local, không đưa vào mã nguồn công khai trên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40233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nhChung_Telegram_Alert_Phone_Th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63040"/>
            <a:ext cx="3200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DEMO THỰC TẾ • KHÔNG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Kết Quả Kiểm Thử Thực Nghiệm Liên Thông 4 Tầng (End-to-End)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hChung_E2E_Wokwi_Dashboard_D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943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760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Kiểm thử thực nghiệm E2E: Wokwi đạt 793 PPM -&gt; LED Đỏ sáng, Còi kêu, Quạt chạy, Dashboard báo DANGER &amp; Bot gửi tin ngay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4 KỊCH BẢN KIỂM THỬ THÀNH CÔNG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1. Kịch bản Bình thường (SAFE):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Khói &lt; 300 PPM, nhiệt 24°C -&gt; LED Xanh sáng, còi im lặng, quạt tắt, Dashboard hiển thị trạng thái An toàn.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2. Kịch bản Cảnh báo sớm (WARNING):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Khói chớm tăng 439 PPM -&gt; LED Vàng bật, quạt tự động kích hoạt tản khói, còi không hú để tránh làm ồn.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3. Kịch bản Cháy khẩn cấp (DANGER):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Khói 793 PPM (hoặc nhiệt &gt; 55°C) -&gt; LED Đỏ bật, còi hú 1000Hz, quạt max, Telegram bắn tin tức thời.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4. Kịch bản Điều khiển từ xa (Downlink):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Bấm FAN_ON / FAN_OFF / AUTO trên web -&gt; ESP32 trên Wokwi đổi trạng thái quạt ngay lập tức.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BÁO CÁO TIẾN ĐỘ GIAI ĐOẠN 1 (TUẦN 1 - 6) • NHÓM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Tổng Kết Đánh Giá Theo Rubric &amp; Kế Hoạch Chặng 2 (Tuần 7 - 10)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9436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ĐỐI CHIẾU TIÊU CHÍ RUBRIC 100 ĐIỂM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Simulation &amp; Embedded (20đ): </a:t>
            </a:r>
            <a:r>
              <a:rPr b="1">
                <a:solidFill>
                  <a:srgbClr val="10B981"/>
                </a:solidFill>
              </a:rPr>
              <a:t>[ĐẠT 20/20] </a:t>
            </a:r>
            <a:r>
              <a:rPr b="0">
                <a:solidFill>
                  <a:srgbClr val="475569"/>
                </a:solidFill>
              </a:rPr>
              <a:t>Mạch Wokwi đầy đủ cảm biến, chấp hành, lọc N=5, FSM 3 LED.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Kiến trúc 4 tầng IoT (25đ): </a:t>
            </a:r>
            <a:r>
              <a:rPr b="1">
                <a:solidFill>
                  <a:srgbClr val="10B981"/>
                </a:solidFill>
              </a:rPr>
              <a:t>[ĐẠT 25/25] </a:t>
            </a:r>
            <a:r>
              <a:rPr b="0">
                <a:solidFill>
                  <a:srgbClr val="475569"/>
                </a:solidFill>
              </a:rPr>
              <a:t>Đủ 4 tầng Sensing -&gt; Network -&gt; Middleware -&gt; Application.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Automation / Control Logic (20đ): </a:t>
            </a:r>
            <a:r>
              <a:rPr b="1">
                <a:solidFill>
                  <a:srgbClr val="10B981"/>
                </a:solidFill>
              </a:rPr>
              <a:t>[ĐẠT 20/20] </a:t>
            </a:r>
            <a:r>
              <a:rPr b="0">
                <a:solidFill>
                  <a:srgbClr val="475569"/>
                </a:solidFill>
              </a:rPr>
              <a:t>02 Automation Rules tự động, xử lý 2 chiều khép kín.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Application / Integration (15đ): </a:t>
            </a:r>
            <a:r>
              <a:rPr b="1">
                <a:solidFill>
                  <a:srgbClr val="10B981"/>
                </a:solidFill>
              </a:rPr>
              <a:t>[ĐẠT 15/15] </a:t>
            </a:r>
            <a:r>
              <a:rPr b="0">
                <a:solidFill>
                  <a:srgbClr val="475569"/>
                </a:solidFill>
              </a:rPr>
              <a:t>Dashboard web Light Theme + Telegram Bot cảnh báo từ xa.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Demo &amp; Độ ổn định (10đ): </a:t>
            </a:r>
            <a:r>
              <a:rPr b="1">
                <a:solidFill>
                  <a:srgbClr val="10B981"/>
                </a:solidFill>
              </a:rPr>
              <a:t>[ĐẠT 10/10] </a:t>
            </a:r>
            <a:r>
              <a:rPr b="0">
                <a:solidFill>
                  <a:srgbClr val="475569"/>
                </a:solidFill>
              </a:rPr>
              <a:t>Demo 4 kịch bản chuẩn xác, không lỗi, phản hồi thời gian thực.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</a:defRPr>
            </a:pPr>
            <a:r>
              <a:t>• Báo cáo &amp; Deliverables (10đ): </a:t>
            </a:r>
            <a:r>
              <a:rPr b="1">
                <a:solidFill>
                  <a:srgbClr val="10B981"/>
                </a:solidFill>
              </a:rPr>
              <a:t>[ĐẠT 10/10] </a:t>
            </a:r>
            <a:r>
              <a:rPr b="0">
                <a:solidFill>
                  <a:srgbClr val="475569"/>
                </a:solidFill>
              </a:rPr>
              <a:t>Source code sạch, sơ đồ mạch, 3 bản báo cáo cá nhân độc lập.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4805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1732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KẾ HOẠCH CHẶNG 2 &amp; BẢO VỆ ĐỒ ÁN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Nhiệm vụ Tuần 7 - 8: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Bổ sung kịch bản xử lý lỗi mạng (khi rớt Wi-Fi hoặc mất kết nối Broker), hoàn thiện tài liệu kỹ thuật chi tiết.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Nhiệm vụ Tuần 9 - 10: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Quay video demo tổng kết, diễn tập thuyết trình và Q&amp;A cá nhân cả 4 tầng.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Điểm cộng Phần cứng (Bonus +5đ):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Nhóm đã có bản vẽ phối cảnh thực tế trong phòng bếp. Sẵn sàng lắp ráp mô hình vật lý nếu được Thầy yêu cầu.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Lời kết &amp; Cảm ơn: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Nhóm 12 xin chân thành cảm ơn Thầy Võ Hoàng Hải đã tận tình hướng dẫn! Nhóm đã sẵn sàng cho phần Demo trực tiếp và trả lời câu hỏi.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